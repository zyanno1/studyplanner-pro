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embeddedFontLst>
    <p:embeddedFont>
      <p:font typeface="Afacad Flux" panose="02010600030101010101" charset="0"/>
      <p:regular r:id="rId15"/>
      <p:bold r:id="rId16"/>
    </p:embeddedFont>
    <p:embeddedFont>
      <p:font typeface="Afacad Flux Medium" panose="02010600030101010101" charset="0"/>
      <p:regular r:id="rId17"/>
      <p:bold r:id="rId18"/>
    </p:embeddedFont>
    <p:embeddedFont>
      <p:font typeface="Afacad Flux SemiBold" panose="02010600030101010101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mfortaa" panose="02010600030101010101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0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1043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2400" y="1728787"/>
            <a:ext cx="11887200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 err="1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StudyP</a:t>
            </a:r>
            <a:r>
              <a:rPr lang="en-US" altLang="zh-CN" sz="6750" b="1" i="0" u="none" strike="noStrike" cap="none" dirty="0" err="1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lanner</a:t>
            </a:r>
            <a:r>
              <a:rPr lang="en-US" altLang="zh-CN" sz="6750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 Pro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304800" y="3097518"/>
            <a:ext cx="115824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334155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The Ultimate GPA Booster</a:t>
            </a:r>
            <a:endParaRPr sz="44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4800" y="4612927"/>
            <a:ext cx="115824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By </a:t>
            </a:r>
            <a:r>
              <a:rPr lang="en-US" sz="2800" b="1" i="0" u="none" strike="noStrike" cap="none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Shijun</a:t>
            </a:r>
            <a:r>
              <a:rPr lang="en-US" sz="28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Tian, </a:t>
            </a:r>
            <a:r>
              <a:rPr lang="en-US" sz="2800" b="1" i="0" u="none" strike="noStrike" cap="none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Zyan</a:t>
            </a:r>
            <a:r>
              <a:rPr lang="en-US" sz="28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Li, </a:t>
            </a:r>
            <a:r>
              <a:rPr lang="en-US" sz="2800" b="1" i="0" u="none" strike="noStrike" cap="none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Qinyan</a:t>
            </a:r>
            <a:r>
              <a:rPr lang="en-US" sz="28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Liu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1006971"/>
            <a:ext cx="520065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Drowning in Deadlines?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2721471"/>
            <a:ext cx="4953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Does your life feel like this?</a:t>
            </a:r>
            <a:endParaRPr sz="2400"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5281314"/>
            <a:ext cx="4953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It's time for a change.</a:t>
            </a:r>
            <a:endParaRPr sz="3600"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3390959"/>
            <a:ext cx="85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390007"/>
            <a:ext cx="457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Too many assignments?</a:t>
            </a:r>
            <a:endParaRPr sz="24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907095"/>
            <a:ext cx="85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906142"/>
            <a:ext cx="457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Delaying DDLs till the last minute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?</a:t>
            </a:r>
            <a:endParaRPr sz="24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423231"/>
            <a:ext cx="85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422278"/>
            <a:ext cx="457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Zero time for video games?</a:t>
            </a:r>
            <a:endParaRPr sz="2400"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84EE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183308"/>
            <a:ext cx="5553075" cy="335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19262"/>
            <a:ext cx="55530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85800" y="2907208"/>
            <a:ext cx="50306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StudyPlanner</a:t>
            </a:r>
            <a:r>
              <a:rPr lang="en-US" sz="32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 Pro</a:t>
            </a:r>
          </a:p>
        </p:txBody>
      </p:sp>
      <p:sp>
        <p:nvSpPr>
          <p:cNvPr id="109" name="Google Shape;109;p15"/>
          <p:cNvSpPr txBox="1"/>
          <p:nvPr/>
        </p:nvSpPr>
        <p:spPr>
          <a:xfrm>
            <a:off x="685800" y="3631108"/>
            <a:ext cx="47910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all-in-one tool designed to save your grades AND your social life.</a:t>
            </a:r>
            <a:endParaRPr sz="2400"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685800" y="4644330"/>
            <a:ext cx="47910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Simple. Powerful. Fun.</a:t>
            </a:r>
            <a:endParaRPr sz="2400" dirty="0"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5"/>
          <a:srcRect l="7291" r="4286"/>
          <a:stretch/>
        </p:blipFill>
        <p:spPr>
          <a:xfrm>
            <a:off x="6096000" y="1719262"/>
            <a:ext cx="5791199" cy="4337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04800" y="304800"/>
            <a:ext cx="11887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Meet Your New Best Friend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23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955601"/>
            <a:ext cx="3670250" cy="3813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0800" y="1955601"/>
            <a:ext cx="3670250" cy="3813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6800" y="1955601"/>
            <a:ext cx="3670250" cy="381357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519773" y="3632001"/>
            <a:ext cx="12401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Students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3488" y="4498776"/>
            <a:ext cx="275272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From High School to PhDs.</a:t>
            </a:r>
            <a:endParaRPr sz="24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5540781" y="3632001"/>
            <a:ext cx="11101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Gamers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46550" y="4498776"/>
            <a:ext cx="30987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Finish homework fast, play more.</a:t>
            </a:r>
            <a:endParaRPr sz="240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8966715" y="3632001"/>
            <a:ext cx="21702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Procrastinators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02550" y="4498776"/>
            <a:ext cx="30987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We organize the chaos for you.</a:t>
            </a:r>
            <a:endParaRPr sz="2400" dirty="0"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82663" y="2412801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38663" y="2412801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94664" y="2412801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04800" y="1088826"/>
            <a:ext cx="11887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Who Needs This?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 rotWithShape="1">
          <a:blip r:embed="rId3"/>
          <a:srcRect r="60183"/>
          <a:stretch/>
        </p:blipFill>
        <p:spPr>
          <a:xfrm>
            <a:off x="118997" y="331941"/>
            <a:ext cx="5824603" cy="6482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3474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667500" y="1677590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Task Master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667500" y="2811065"/>
            <a:ext cx="4953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Never miss a deadline again.</a:t>
            </a:r>
            <a:endParaRPr sz="24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962775" y="3480554"/>
            <a:ext cx="85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048500" y="3479601"/>
            <a:ext cx="457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Color-coded priorities</a:t>
            </a:r>
            <a:endParaRPr sz="24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6962775" y="3996690"/>
            <a:ext cx="85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048500" y="3995737"/>
            <a:ext cx="457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Realtime countdown</a:t>
            </a:r>
            <a:endParaRPr sz="24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6962775" y="4512825"/>
            <a:ext cx="85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048500" y="4511873"/>
            <a:ext cx="457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"Check-off" </a:t>
            </a:r>
            <a:r>
              <a:rPr 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progress bar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B9E158-6585-42B6-BDF7-629446AE41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404"/>
          <a:stretch/>
        </p:blipFill>
        <p:spPr>
          <a:xfrm>
            <a:off x="3889334" y="331942"/>
            <a:ext cx="1895606" cy="6482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32101"/>
            <a:ext cx="4953000" cy="99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1435893"/>
            <a:ext cx="5200650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dirty="0">
                <a:solidFill>
                  <a:srgbClr val="1E293B"/>
                </a:solidFill>
                <a:latin typeface="Comfortaa"/>
                <a:sym typeface="Comfortaa"/>
              </a:rPr>
              <a:t>GPA Tracker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2569368"/>
            <a:ext cx="4953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Track your GPA in real-time.</a:t>
            </a:r>
            <a:endParaRPr sz="2400"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352204"/>
            <a:ext cx="4953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Know exactly what you need on the final exam to pass.</a:t>
            </a:r>
            <a:endParaRPr sz="2400" dirty="0"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622601"/>
            <a:ext cx="4572000" cy="60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62673D3-B382-4F37-A46C-9E77D829F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86" y="72591"/>
            <a:ext cx="10481327" cy="6712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84EE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337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63328"/>
            <a:ext cx="5553075" cy="399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6337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6715125" y="2587228"/>
            <a:ext cx="50306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The "Luck" Feature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715125" y="3311128"/>
            <a:ext cx="47910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Don't know what to study first?</a:t>
            </a:r>
            <a:endParaRPr sz="2400" dirty="0"/>
          </a:p>
        </p:txBody>
      </p:sp>
      <p:sp>
        <p:nvSpPr>
          <p:cNvPr id="164" name="Google Shape;164;p19"/>
          <p:cNvSpPr txBox="1"/>
          <p:nvPr/>
        </p:nvSpPr>
        <p:spPr>
          <a:xfrm>
            <a:off x="6715125" y="3951089"/>
            <a:ext cx="47910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Let fate decide! </a:t>
            </a:r>
            <a:r>
              <a:rPr 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Get your lucky 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task</a:t>
            </a:r>
            <a:r>
              <a:rPr 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b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ased on your zodiac.</a:t>
            </a:r>
            <a:endParaRPr sz="2400" dirty="0"/>
          </a:p>
        </p:txBody>
      </p:sp>
      <p:sp>
        <p:nvSpPr>
          <p:cNvPr id="165" name="Google Shape;165;p19"/>
          <p:cNvSpPr txBox="1"/>
          <p:nvPr/>
        </p:nvSpPr>
        <p:spPr>
          <a:xfrm>
            <a:off x="6715125" y="4964310"/>
            <a:ext cx="47910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Gamify your study session!</a:t>
            </a:r>
            <a:endParaRPr sz="2400"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152400" y="304800"/>
            <a:ext cx="11887200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dirty="0">
                <a:solidFill>
                  <a:srgbClr val="FFFFFF"/>
                </a:solidFill>
                <a:latin typeface="Comfortaa"/>
                <a:sym typeface="Comfortaa"/>
              </a:rPr>
              <a:t>Luck for studies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D2D6C2-10CE-43EC-B59A-811F0DA820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57" t="20063" r="4571" b="20063"/>
          <a:stretch/>
        </p:blipFill>
        <p:spPr>
          <a:xfrm>
            <a:off x="595143" y="1245720"/>
            <a:ext cx="11292057" cy="4998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6667500" y="814685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Why Buy?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667500" y="202436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The Value of Time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667500" y="2891135"/>
            <a:ext cx="4953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StudyPlanner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Pro 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saves you up to 5 hours a week.</a:t>
            </a:r>
            <a:endParaRPr sz="2400" dirty="0"/>
          </a:p>
        </p:txBody>
      </p:sp>
      <p:sp>
        <p:nvSpPr>
          <p:cNvPr id="175" name="Google Shape;175;p20"/>
          <p:cNvSpPr txBox="1"/>
          <p:nvPr/>
        </p:nvSpPr>
        <p:spPr>
          <a:xfrm>
            <a:off x="6667500" y="4113540"/>
            <a:ext cx="4953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That means more time for:</a:t>
            </a:r>
            <a:endParaRPr sz="2400" dirty="0"/>
          </a:p>
        </p:txBody>
      </p:sp>
      <p:sp>
        <p:nvSpPr>
          <p:cNvPr id="177" name="Google Shape;177;p20"/>
          <p:cNvSpPr txBox="1"/>
          <p:nvPr/>
        </p:nvSpPr>
        <p:spPr>
          <a:xfrm>
            <a:off x="6628879" y="4630605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Sleeping 😴</a:t>
            </a:r>
            <a:endParaRPr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6628879" y="5146740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Gaming 🎮</a:t>
            </a:r>
            <a:endParaRPr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6628879" y="5662876"/>
            <a:ext cx="4572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Actually having a life 🌟</a:t>
            </a:r>
            <a:endParaRPr dirty="0"/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312664"/>
            <a:ext cx="5648325" cy="286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1312664"/>
            <a:ext cx="5648325" cy="286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4459485"/>
            <a:ext cx="2857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90550" y="1960364"/>
            <a:ext cx="507682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"I used to fail math. Now I calculate the trajectory of my grades for fun."</a:t>
            </a:r>
            <a:endParaRPr sz="2400"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2473880" y="3436882"/>
            <a:ext cx="13101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- Justin Y.</a:t>
            </a:r>
            <a:endParaRPr dirty="0"/>
          </a:p>
        </p:txBody>
      </p:sp>
      <p:sp>
        <p:nvSpPr>
          <p:cNvPr id="192" name="Google Shape;192;p21"/>
          <p:cNvSpPr txBox="1"/>
          <p:nvPr/>
        </p:nvSpPr>
        <p:spPr>
          <a:xfrm>
            <a:off x="6524625" y="1960364"/>
            <a:ext cx="50768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"This app saves me so much time, I can easily plan my tasks and  don’t worry about  DDLs again."</a:t>
            </a:r>
            <a:endParaRPr sz="2400" dirty="0"/>
          </a:p>
        </p:txBody>
      </p:sp>
      <p:sp>
        <p:nvSpPr>
          <p:cNvPr id="193" name="Google Shape;193;p21"/>
          <p:cNvSpPr txBox="1"/>
          <p:nvPr/>
        </p:nvSpPr>
        <p:spPr>
          <a:xfrm>
            <a:off x="8382952" y="3436882"/>
            <a:ext cx="136017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- </a:t>
            </a:r>
            <a:r>
              <a:rPr lang="en-US" sz="2700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Cindy H</a:t>
            </a:r>
            <a:r>
              <a:rPr lang="en-US" sz="27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.</a:t>
            </a:r>
            <a:endParaRPr dirty="0"/>
          </a:p>
        </p:txBody>
      </p:sp>
      <p:sp>
        <p:nvSpPr>
          <p:cNvPr id="194" name="Google Shape;194;p21"/>
          <p:cNvSpPr txBox="1"/>
          <p:nvPr/>
        </p:nvSpPr>
        <p:spPr>
          <a:xfrm>
            <a:off x="152400" y="445889"/>
            <a:ext cx="11887200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Customer Feedback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23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/>
        </p:nvSpPr>
        <p:spPr>
          <a:xfrm>
            <a:off x="172412" y="1848154"/>
            <a:ext cx="583072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$</a:t>
            </a:r>
            <a:r>
              <a:rPr lang="en-US" sz="45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49.9</a:t>
            </a:r>
            <a:endParaRPr dirty="0"/>
          </a:p>
        </p:txBody>
      </p:sp>
      <p:sp>
        <p:nvSpPr>
          <p:cNvPr id="200" name="Google Shape;200;p22"/>
          <p:cNvSpPr txBox="1"/>
          <p:nvPr/>
        </p:nvSpPr>
        <p:spPr>
          <a:xfrm>
            <a:off x="1970762" y="1991030"/>
            <a:ext cx="55530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Per </a:t>
            </a:r>
            <a:r>
              <a:rPr lang="en-US" altLang="zh-CN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Year</a:t>
            </a:r>
            <a:endParaRPr sz="2400" dirty="0"/>
          </a:p>
        </p:txBody>
      </p:sp>
      <p:sp>
        <p:nvSpPr>
          <p:cNvPr id="203" name="Google Shape;203;p22"/>
          <p:cNvSpPr txBox="1"/>
          <p:nvPr/>
        </p:nvSpPr>
        <p:spPr>
          <a:xfrm>
            <a:off x="152400" y="304800"/>
            <a:ext cx="11887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Price?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23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/>
        </p:nvSpPr>
        <p:spPr>
          <a:xfrm>
            <a:off x="165973" y="1848154"/>
            <a:ext cx="583072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$</a:t>
            </a:r>
            <a:r>
              <a:rPr lang="en-US" sz="45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4.99</a:t>
            </a:r>
            <a:endParaRPr dirty="0"/>
          </a:p>
        </p:txBody>
      </p:sp>
      <p:sp>
        <p:nvSpPr>
          <p:cNvPr id="200" name="Google Shape;200;p22"/>
          <p:cNvSpPr txBox="1"/>
          <p:nvPr/>
        </p:nvSpPr>
        <p:spPr>
          <a:xfrm>
            <a:off x="1970762" y="1991030"/>
            <a:ext cx="55530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Per </a:t>
            </a:r>
            <a:r>
              <a:rPr lang="en-US" altLang="zh-CN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Year</a:t>
            </a:r>
            <a:endParaRPr sz="2400" dirty="0"/>
          </a:p>
        </p:txBody>
      </p:sp>
      <p:sp>
        <p:nvSpPr>
          <p:cNvPr id="201" name="Google Shape;201;p22"/>
          <p:cNvSpPr txBox="1"/>
          <p:nvPr/>
        </p:nvSpPr>
        <p:spPr>
          <a:xfrm>
            <a:off x="542925" y="2487047"/>
            <a:ext cx="55530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(Cheaper than a latte!)</a:t>
            </a:r>
            <a:endParaRPr sz="2400" dirty="0"/>
          </a:p>
        </p:txBody>
      </p:sp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19262"/>
            <a:ext cx="55530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152400" y="304800"/>
            <a:ext cx="11887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Price?</a:t>
            </a:r>
            <a:endParaRPr dirty="0"/>
          </a:p>
        </p:txBody>
      </p:sp>
      <p:sp>
        <p:nvSpPr>
          <p:cNvPr id="8" name="Google Shape;199;p22">
            <a:extLst>
              <a:ext uri="{FF2B5EF4-FFF2-40B4-BE49-F238E27FC236}">
                <a16:creationId xmlns:a16="http://schemas.microsoft.com/office/drawing/2014/main" id="{8DC14A75-F9A6-4C16-8BCD-F04A4D6716CF}"/>
              </a:ext>
            </a:extLst>
          </p:cNvPr>
          <p:cNvSpPr txBox="1"/>
          <p:nvPr/>
        </p:nvSpPr>
        <p:spPr>
          <a:xfrm>
            <a:off x="304800" y="4604705"/>
            <a:ext cx="583072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for everyone here today!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9AA89-4461-46D3-A1CC-1E70D3BDF176}"/>
              </a:ext>
            </a:extLst>
          </p:cNvPr>
          <p:cNvSpPr/>
          <p:nvPr/>
        </p:nvSpPr>
        <p:spPr>
          <a:xfrm>
            <a:off x="2081070" y="3192680"/>
            <a:ext cx="227818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i="1" u="none" strike="noStrike" cap="none" spc="0" dirty="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facad Flux SemiBold"/>
                <a:ea typeface="Afacad Flux SemiBold"/>
                <a:cs typeface="Afacad Flux SemiBold"/>
                <a:sym typeface="Afacad Flux SemiBold"/>
              </a:rPr>
              <a:t>Free</a:t>
            </a:r>
            <a:endParaRPr lang="zh-CN" altLang="en-US" sz="9600" b="0" cap="none" spc="0" dirty="0">
              <a:ln w="0"/>
              <a:solidFill>
                <a:schemeClr val="accent6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595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77542"/>
            <a:ext cx="4953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7314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609600" y="1052085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Get It NOW!</a:t>
            </a:r>
            <a:endParaRPr dirty="0"/>
          </a:p>
        </p:txBody>
      </p:sp>
      <p:sp>
        <p:nvSpPr>
          <p:cNvPr id="211" name="Google Shape;211;p23"/>
          <p:cNvSpPr txBox="1"/>
          <p:nvPr/>
        </p:nvSpPr>
        <p:spPr>
          <a:xfrm>
            <a:off x="609600" y="2017646"/>
            <a:ext cx="4953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Don't let another semester slip away.</a:t>
            </a:r>
            <a:endParaRPr sz="2400" dirty="0"/>
          </a:p>
        </p:txBody>
      </p:sp>
      <p:pic>
        <p:nvPicPr>
          <p:cNvPr id="214" name="Google Shape;21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11;p23">
            <a:extLst>
              <a:ext uri="{FF2B5EF4-FFF2-40B4-BE49-F238E27FC236}">
                <a16:creationId xmlns:a16="http://schemas.microsoft.com/office/drawing/2014/main" id="{1AD17E8B-F1A8-41D0-BCCD-9BB5E8AAB901}"/>
              </a:ext>
            </a:extLst>
          </p:cNvPr>
          <p:cNvSpPr txBox="1"/>
          <p:nvPr/>
        </p:nvSpPr>
        <p:spPr>
          <a:xfrm>
            <a:off x="609600" y="2985377"/>
            <a:ext cx="4953000" cy="361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20000"/>
            </a:pPr>
            <a:r>
              <a:rPr lang="en-US" sz="2400" b="1" dirty="0">
                <a:solidFill>
                  <a:schemeClr val="bg1"/>
                </a:solidFill>
                <a:latin typeface="Afacad Flux"/>
                <a:cs typeface="Afacad Flux"/>
                <a:sym typeface="Afacad Flux"/>
              </a:rPr>
              <a:t>Study Planner Pro</a:t>
            </a:r>
          </a:p>
          <a:p>
            <a:pPr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Afacad Flux"/>
                <a:cs typeface="Afacad Flux"/>
                <a:sym typeface="Afacad Flux"/>
              </a:rPr>
              <a:t>Make studying easier, more organized, and fun!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facad Flux"/>
                <a:cs typeface="Afacad Flux"/>
                <a:sym typeface="Afacad Flux"/>
              </a:rPr>
              <a:t> Task master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facad Flux"/>
                <a:cs typeface="Afacad Flux"/>
                <a:sym typeface="Afacad Flux"/>
              </a:rPr>
              <a:t>  GPA Tracker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facad Flux"/>
                <a:cs typeface="Afacad Flux"/>
                <a:sym typeface="Afacad Flux"/>
              </a:rPr>
              <a:t>  Fortune-teller for studies</a:t>
            </a: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20000"/>
              <a:buFont typeface="Wingdings" panose="05000000000000000000" pitchFamily="2" charset="2"/>
              <a:buChar char="ü"/>
            </a:pP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321</Words>
  <Application>Microsoft Office PowerPoint</Application>
  <PresentationFormat>宽屏</PresentationFormat>
  <Paragraphs>67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Afacad Flux Medium</vt:lpstr>
      <vt:lpstr>Afacad Flux SemiBold</vt:lpstr>
      <vt:lpstr>Afacad Flux</vt:lpstr>
      <vt:lpstr>Comfortaa</vt:lpstr>
      <vt:lpstr>Calibri</vt:lpstr>
      <vt:lpstr>Wingdings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qin yan liu</cp:lastModifiedBy>
  <cp:revision>21</cp:revision>
  <dcterms:modified xsi:type="dcterms:W3CDTF">2026-02-19T19:55:58Z</dcterms:modified>
</cp:coreProperties>
</file>